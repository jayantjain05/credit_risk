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19da38467a4cd2" /><Relationship Type="http://schemas.openxmlformats.org/officeDocument/2006/relationships/extended-properties" Target="/docProps/app.xml" Id="R9d222dd673724d19" /><Relationship Type="http://schemas.openxmlformats.org/officeDocument/2006/relationships/officeDocument" Target="/ppt/presentation.xml" Id="R9f9074e28872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5d4da964340f2"/>
  </p:sldMasterIdLst>
  <p:notesMasterIdLst>
    <p:notesMasterId xmlns:r="http://schemas.openxmlformats.org/officeDocument/2006/relationships" r:id="Rf3c94d134c1545c5"/>
  </p:notesMasterIdLst>
  <p:sldIdLst>
    <p:sldId xmlns:r="http://schemas.openxmlformats.org/officeDocument/2006/relationships" id="256" r:id="Rfa641426d6a4475f"/>
    <p:sldId xmlns:r="http://schemas.openxmlformats.org/officeDocument/2006/relationships" id="257" r:id="R839423e740d240b1"/>
    <p:sldId xmlns:r="http://schemas.openxmlformats.org/officeDocument/2006/relationships" id="258" r:id="R3f7a6070cc6c4fc2"/>
    <p:sldId xmlns:r="http://schemas.openxmlformats.org/officeDocument/2006/relationships" id="259" r:id="R655bbca3af304795"/>
    <p:sldId xmlns:r="http://schemas.openxmlformats.org/officeDocument/2006/relationships" id="260" r:id="Red2d8a0108e54644"/>
    <p:sldId xmlns:r="http://schemas.openxmlformats.org/officeDocument/2006/relationships" id="261" r:id="Rcb4918f485554877"/>
    <p:sldId xmlns:r="http://schemas.openxmlformats.org/officeDocument/2006/relationships" id="262" r:id="Rc23e867c16b84b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24a55467d4abe" /><Relationship Type="http://schemas.openxmlformats.org/officeDocument/2006/relationships/slideMaster" Target="/ppt/slideMasters/slideMaster1.xml" Id="Raaf5d4da964340f2" /><Relationship Type="http://schemas.openxmlformats.org/officeDocument/2006/relationships/notesMaster" Target="/ppt/notesMasters/notesMaster1.xml" Id="Rf3c94d134c1545c5" /><Relationship Type="http://schemas.openxmlformats.org/officeDocument/2006/relationships/presProps" Target="/ppt/presProps.xml" Id="R252f889fb375495e" /><Relationship Type="http://schemas.openxmlformats.org/officeDocument/2006/relationships/tableStyles" Target="/ppt/tableStyles.xml" Id="Rba47199a6b6b45f2" /><Relationship Type="http://schemas.openxmlformats.org/officeDocument/2006/relationships/slide" Target="/ppt/slides/slide1.xml" Id="Rfa641426d6a4475f" /><Relationship Type="http://schemas.openxmlformats.org/officeDocument/2006/relationships/slide" Target="/ppt/slides/slide2.xml" Id="R839423e740d240b1" /><Relationship Type="http://schemas.openxmlformats.org/officeDocument/2006/relationships/slide" Target="/ppt/slides/slide3.xml" Id="R3f7a6070cc6c4fc2" /><Relationship Type="http://schemas.openxmlformats.org/officeDocument/2006/relationships/slide" Target="/ppt/slides/slide4.xml" Id="R655bbca3af304795" /><Relationship Type="http://schemas.openxmlformats.org/officeDocument/2006/relationships/slide" Target="/ppt/slides/slide5.xml" Id="Red2d8a0108e54644" /><Relationship Type="http://schemas.openxmlformats.org/officeDocument/2006/relationships/slide" Target="/ppt/slides/slide6.xml" Id="Rcb4918f485554877" /><Relationship Type="http://schemas.openxmlformats.org/officeDocument/2006/relationships/slide" Target="/ppt/slides/slide7.xml" Id="Rc23e867c16b8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891c440704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bf5a8ec174bec" /><Relationship Type="http://schemas.openxmlformats.org/officeDocument/2006/relationships/notesMaster" Target="/ppt/notesMasters/notesMaster1.xml" Id="R566153d989bb47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54e1295094d92" /><Relationship Type="http://schemas.openxmlformats.org/officeDocument/2006/relationships/notesMaster" Target="/ppt/notesMasters/notesMaster1.xml" Id="R041a5faef30f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2615cb6a84cbf" /><Relationship Type="http://schemas.openxmlformats.org/officeDocument/2006/relationships/notesMaster" Target="/ppt/notesMasters/notesMaster1.xml" Id="R63c89bb62f26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bbbadea6443a7" /><Relationship Type="http://schemas.openxmlformats.org/officeDocument/2006/relationships/notesMaster" Target="/ppt/notesMasters/notesMaster1.xml" Id="R9e53822b9b9649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dc5301efd64501" /><Relationship Type="http://schemas.openxmlformats.org/officeDocument/2006/relationships/notesMaster" Target="/ppt/notesMasters/notesMaster1.xml" Id="R56bb2c1fd22f49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8f33743a934cd2" /><Relationship Type="http://schemas.openxmlformats.org/officeDocument/2006/relationships/notesMaster" Target="/ppt/notesMasters/notesMaster1.xml" Id="Ra362cf1d15e8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39a126e29c4001" /><Relationship Type="http://schemas.openxmlformats.org/officeDocument/2006/relationships/notesMaster" Target="/ppt/notesMasters/notesMaster1.xml" Id="Rea7cb2b5ad4743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9af0e0086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c3aebc7c4f4849" /><Relationship Type="http://schemas.openxmlformats.org/officeDocument/2006/relationships/slideLayout" Target="/ppt/slideLayouts/slideLayout1.xml" Id="Rd4bf4b9675d6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bf4b9675d6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02e4421f41bf" /><Relationship Type="http://schemas.openxmlformats.org/officeDocument/2006/relationships/notesSlide" Target="/ppt/notesSlides/notesSlide1.xml" Id="R81cc1ff7ffee4c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d2168daf64b99" /><Relationship Type="http://schemas.openxmlformats.org/officeDocument/2006/relationships/notesSlide" Target="/ppt/notesSlides/notesSlide2.xml" Id="Rae83633210ff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ac04abb3d4206" /><Relationship Type="http://schemas.openxmlformats.org/officeDocument/2006/relationships/notesSlide" Target="/ppt/notesSlides/notesSlide3.xml" Id="R5823b279212b48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c304de9314f36" /><Relationship Type="http://schemas.openxmlformats.org/officeDocument/2006/relationships/notesSlide" Target="/ppt/notesSlides/notesSlide4.xml" Id="Rab908999603b4a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7c4d26e304f13" /><Relationship Type="http://schemas.openxmlformats.org/officeDocument/2006/relationships/notesSlide" Target="/ppt/notesSlides/notesSlide5.xml" Id="R670aa3224f2f4c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40e7d97b540df" /><Relationship Type="http://schemas.openxmlformats.org/officeDocument/2006/relationships/notesSlide" Target="/ppt/notesSlides/notesSlide6.xml" Id="Rb7d195f2281a46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86a77eef8426d" /><Relationship Type="http://schemas.openxmlformats.org/officeDocument/2006/relationships/notesSlide" Target="/ppt/notesSlides/notesSlide7.xml" Id="R4d2ab5c067f64e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041C6-DDE2-4A0B-B118-7705F234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CREDITLENS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57200" y="800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718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9858E-998B-4105-98F6-83741A07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7905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Credit analysis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5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that makes risk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5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review clearer.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7A69E-8993-4A9A-8527-62424531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Interactive underwriting dashboard +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calibrated credit-risk ML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B5DF7-BE5C-42FB-887C-5795AF4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71625"/>
            <a:ext cx="2400300" cy="31432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0">
            <a:solidFill>
              <a:srgbClr val="E7F1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1A135-49A0-4439-A8EE-C65BBE64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383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4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CD2A6-A347-4470-A762-36DB2C5A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19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CREDIT SCORE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9334500" y="35242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6FD39-9E84-4054-974B-9495220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43325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Default risk</a:t>
            </a:r>
          </a:p>
          <a:p xmlns:a="http://schemas.openxmlformats.org/drawingml/2006/main">
            <a:pPr algn="ctr">
              <a:def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1.84%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1F833-EF3C-4F46-87D0-FC256F1A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GitHub project overview · July 2026</a:t>
            </a:r>
          </a:p>
        </p:txBody>
      </p:sp>
    </p:spTree>
    <p:extLst>
      <p:ext uri="{BB962C8B-B14F-4D97-AF65-F5344CB8AC3E}">
        <p14:creationId xmlns:p14="http://schemas.microsoft.com/office/powerpoint/2010/main" val="694159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5C1BC-DB38-4C17-88F1-EFED9A1F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CREDITLENS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73E9E-BE04-4537-8777-F953B4CF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57200" y="590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5D923-761F-4204-B284-0AA6854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BC2E0-385E-4C92-B3DA-06932581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7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Credit decisions need one clear view of financial strength and downside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6A0CD-3625-4FDE-8903-FCA3566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F6B"/>
          </a:solidFill>
          <a:ln xmlns:a="http://schemas.openxmlformats.org/drawingml/2006/main" w="0">
            <a:solidFill>
              <a:srgbClr val="0E6F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96A6-363F-4B6F-80D3-92009FAA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Scattered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7FBA9-2085-4AA0-88AB-B8D8B4BF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Income, debt, payment behavior, and cash flow often live in different places.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3F02D-90D0-4E60-B8AE-5A640FED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384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F6B"/>
          </a:solidFill>
          <a:ln xmlns:a="http://schemas.openxmlformats.org/drawingml/2006/main" w="0">
            <a:solidFill>
              <a:srgbClr val="0E6F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BC0E9-E9BD-4AE0-AB19-184EC6B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Static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425AC-8169-4C86-BD34-C941C00D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A single snapshot does not show what happens when revenue falls.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86CAF-769E-44F5-A445-36663C08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384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04F"/>
          </a:solidFill>
          <a:ln xmlns:a="http://schemas.openxmlformats.org/drawingml/2006/main" w="0">
            <a:solidFill>
              <a:srgbClr val="D990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30FE2-3EE0-4CF1-AADC-4512539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Opaque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11228-7D5E-4FBF-A95D-AF48AEA1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Analysts need a clear explanation—not just a pass or fail result.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48577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E063C-CEA3-4FC5-A644-2BF41A66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CreditLens turns borrower data into a transparent review: financial context, stress testing, and a probability-based risk signal.</a:t>
            </a:r>
          </a:p>
        </p:txBody>
      </p:sp>
    </p:spTree>
    <p:extLst>
      <p:ext uri="{BB962C8B-B14F-4D97-AF65-F5344CB8AC3E}">
        <p14:creationId xmlns:p14="http://schemas.microsoft.com/office/powerpoint/2010/main" val="1019555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E72FC-AA5E-4FFB-89D7-56D81A50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CREDITLENS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B513A-5309-4985-97FC-D108C7B4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57200" y="590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E94EA-5A64-4F4E-967A-069AD8F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970DA-10B5-47D5-9272-6565812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7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One workflow connects data, risk assessment, and analyst judgment.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933450" y="3638550"/>
            <a:ext cx="103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8958F-A08C-4C81-89A1-153D1719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F6B"/>
          </a:solidFill>
          <a:ln xmlns:a="http://schemas.openxmlformats.org/drawingml/2006/main" w="0">
            <a:solidFill>
              <a:srgbClr val="0E6F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AA89B-6CB0-436F-BCE1-6563D96B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58155-E39A-4A08-AE55-FC2F712A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Borrower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F72EE-9F56-46B7-924E-48D4BDD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Financial, behavioral, and credit-history fields enter the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BB40D-F33B-4667-94A2-8E42CE7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F6B"/>
          </a:solidFill>
          <a:ln xmlns:a="http://schemas.openxmlformats.org/drawingml/2006/main" w="0">
            <a:solidFill>
              <a:srgbClr val="0E6F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AE515-F79F-4E6F-AD86-51B2E15F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90BD3-E705-423E-881D-1779822C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Risk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150F4-0411-4874-B8AF-8EF1EFA0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The dashboard calculates ratios; the model estimates high-risk probability.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72520-C034-44A3-8BF6-14E90FF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F6B"/>
          </a:solidFill>
          <a:ln xmlns:a="http://schemas.openxmlformats.org/drawingml/2006/main" w="0">
            <a:solidFill>
              <a:srgbClr val="0E6F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800CC-29DD-4B7A-BD99-3891C6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3B046-2391-4F70-AB3E-B0C67D34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Credit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A5DBA-DE3F-49B4-8844-090FC099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The analyst reviews conditions, downside resilience, and the credit memo.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5BB9D-52C7-415F-81F9-DF5D71FB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Decision support—not automated lending.</a:t>
            </a:r>
          </a:p>
        </p:txBody>
      </p:sp>
    </p:spTree>
    <p:extLst>
      <p:ext uri="{BB962C8B-B14F-4D97-AF65-F5344CB8AC3E}">
        <p14:creationId xmlns:p14="http://schemas.microsoft.com/office/powerpoint/2010/main" val="1984177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0BEB5-885E-4B4E-A157-79B94EEE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CREDITLENS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5DDBF-8BF1-427F-BBCE-A5F5501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590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5404B-DE8F-41B5-B0BC-7ED828CE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19856-6B75-4F5D-9411-013F3DE2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4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The dashboard makes the credit story visible at a glance.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CD9D2-4F80-4E48-BAA6-76833379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352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0">
            <a:solidFill>
              <a:srgbClr val="E7F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84D1A-15E3-450B-8E19-8F1C369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78 /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0B253-7A41-4750-9AB9-1323C88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Credit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DC925-AEED-44C4-827A-7E28C94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A compact view of borrower strength.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0211C-427B-44EE-A057-4D602FD6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52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6EFE7"/>
          </a:solidFill>
          <a:ln xmlns:a="http://schemas.openxmlformats.org/drawingml/2006/main" w="0">
            <a:solidFill>
              <a:srgbClr val="F6EF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264A3-06E6-47F2-A27E-892BCE35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1.84%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A1307-D9CF-42E7-8BE9-155C8247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Probability of 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D76EB-2A2C-4611-9DEC-0BC07188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A calibrated risk estimate.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A6465-43A7-45D3-B287-2F2B2789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352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DF0EB"/>
          </a:solidFill>
          <a:ln xmlns:a="http://schemas.openxmlformats.org/drawingml/2006/main" w="0">
            <a:solidFill>
              <a:srgbClr val="EDF0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9FE9B-F066-44E3-A01F-024AEE1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1.62×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66D66-5081-4C2A-8906-D4497A8D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52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Debt service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9E3D6-5D9C-4B47-B091-6E5F79BB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338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Cash flow available for debt payments.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CB68B-6CCE-47FE-9D83-4957BB77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Interactive downside testing updates the score, PD, DSCR, risk grade, and covenant guidance as revenue declines.</a:t>
            </a:r>
          </a:p>
        </p:txBody>
      </p:sp>
    </p:spTree>
    <p:extLst>
      <p:ext uri="{BB962C8B-B14F-4D97-AF65-F5344CB8AC3E}">
        <p14:creationId xmlns:p14="http://schemas.microsoft.com/office/powerpoint/2010/main" val="1111233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8C0FF-758E-4173-94EF-CF7266B3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CREDITLENS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657F6-E14B-4CF8-9805-3691EE3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590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5AD8-98A2-42AC-8BE0-BFD3B09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2274B-6CCF-4335-8BDC-114539A4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7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The ML pipeline estimates risk while keeping the workflow reproducible.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C98B6-CC38-483D-B62B-6C52E893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DF0EB"/>
          </a:solidFill>
          <a:ln xmlns:a="http://schemas.openxmlformats.org/drawingml/2006/main" w="0">
            <a:solidFill>
              <a:srgbClr val="EDF0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E4F28-66E6-4662-B572-55E504A3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53E8E-F7EC-465A-AF38-82A755D2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Ingest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D80A5-2732-4DBA-8AD8-714FCC81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Kaggle dataset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5,000 synthetic borrowers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DE85F-39F5-413A-83F5-8102A4AE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19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70E56-AB7B-44E5-BDF2-78CFF0A8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DF0EB"/>
          </a:solidFill>
          <a:ln xmlns:a="http://schemas.openxmlformats.org/drawingml/2006/main" w="0">
            <a:solidFill>
              <a:srgbClr val="EDF0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96486-8156-443B-B528-5D22159A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CBE40-0EED-4830-8B37-432B4EE7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76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87FB9-F7E3-459C-AEE2-6CAC7B2F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243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Remove IDs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Impute + encode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47848-AD13-4040-AEC7-C2D866A8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073C3-9EE2-441F-AA1D-CE494FD2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0">
            <a:solidFill>
              <a:srgbClr val="E7F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DF943-4371-408C-8846-E2EB3DED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EA2E6-4CB6-49DE-B55D-59515B6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6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13426-3AA0-4074-BF77-0D532992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Class-balanced logistic regression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+ probability calibration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F8AA5-20F4-44A9-83EA-987AB290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0F2CA-E352-4D7D-8978-9096835D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DF0EB"/>
          </a:solidFill>
          <a:ln xmlns:a="http://schemas.openxmlformats.org/drawingml/2006/main" w="0">
            <a:solidFill>
              <a:srgbClr val="EDF0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DAB0B-7481-4C9E-AE46-A2B7B171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9631D-2FDF-40F6-92AD-A3006537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545B4-58F6-4613-9056-C18D0DF0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243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Export probability of default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+ configurable risk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C7445-1377-4E25-A892-15482F7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Training and batch scoring are provided as separate Python commands so the process can be repeated and audited.</a:t>
            </a:r>
          </a:p>
        </p:txBody>
      </p:sp>
    </p:spTree>
    <p:extLst>
      <p:ext uri="{BB962C8B-B14F-4D97-AF65-F5344CB8AC3E}">
        <p14:creationId xmlns:p14="http://schemas.microsoft.com/office/powerpoint/2010/main" val="1887751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9ADD7-7119-40CA-8BBD-18D5A8C0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CREDITLENS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C0D21-13E5-404E-9C19-BA4AA3B4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57200" y="590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C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11E95-EF3D-48CA-B2A2-10B0A33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F1099-994F-499C-AE79-7DCD9FF7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7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The demonstration model performs strongly on its holdout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3568E-E646-491C-95EE-7AD522F6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352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0">
            <a:solidFill>
              <a:srgbClr val="E7F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84317-B927-4987-8E25-5A2B39E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0.9663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48EAF-22EB-413F-8E77-6565D6CA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ROC-AUC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F1FD3-61DB-40CB-B2CC-1542007B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Separates high- and low-risk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6F538-DE34-484A-89C3-83BCAC9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52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6EFE7"/>
          </a:solidFill>
          <a:ln xmlns:a="http://schemas.openxmlformats.org/drawingml/2006/main" w="0">
            <a:solidFill>
              <a:srgbClr val="F6EF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B7976-229F-414D-8061-88C8FEC3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0.9896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79629-BDB5-4CAB-8C12-2F80073F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Average 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DC729-DD1D-4155-912B-584A19E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Finds high-risk records accurately.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78C4B-9B66-4F2F-B9FB-3F371931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352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DF0EB"/>
          </a:solidFill>
          <a:ln xmlns:a="http://schemas.openxmlformats.org/drawingml/2006/main" w="0">
            <a:solidFill>
              <a:srgbClr val="EDF0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8CB0D-A01D-4CD0-A5D5-322A121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0.0627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B5E70-BD8A-4686-BA39-041AB77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52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Brier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F3B47-822A-4B3E-A4E5-ED5E7FC3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338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Measures probability calibration error.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6266C-DCED-40DB-A900-EE584023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Validation used a stratified 80/20 split: 4,000 training rows and 1,000 holdout rows.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8E8B0-BE71-4C75-AE38-A71CE2AC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90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904F"/>
                </a:solidFill>
                <a:latin typeface="Helvetica Neue"/>
                <a:ea typeface="Helvetica Neue"/>
                <a:cs typeface="Helvetica Neue"/>
              </a:rPr>
              <a:t>Important: these metrics are for a synthetic Kaggle dataset—not real lending data.</a:t>
            </a:r>
          </a:p>
        </p:txBody>
      </p:sp>
    </p:spTree>
    <p:extLst>
      <p:ext uri="{BB962C8B-B14F-4D97-AF65-F5344CB8AC3E}">
        <p14:creationId xmlns:p14="http://schemas.microsoft.com/office/powerpoint/2010/main" val="5482954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152F7-2088-48E2-9A7A-28EBC61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CREDITLENS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57200" y="800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718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76ED3-A78D-4E87-898F-FDED967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8286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2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A strong foundation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2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for explainable credit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2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risk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123B3-72FC-4E9C-AE64-73CA8AC4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690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Next step: connect the dashboard to a secure API, replace synthetic data with governed portfolio data, and add human approval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6D7E3-5F62-4CA2-85A2-CBC3BBD0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05000"/>
            <a:ext cx="2419350" cy="24384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0">
            <a:solidFill>
              <a:srgbClr val="E7F1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54C19-629D-48AA-914F-D4C433D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E6F6B"/>
                </a:solidFill>
                <a:latin typeface="Helvetica Neue"/>
                <a:ea typeface="Helvetica Neue"/>
                <a:cs typeface="Helvetica Neue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D3421-9C83-44F5-BBB0-B284357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76575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Project includes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• dashboard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• ML pipeline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• tests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718"/>
                </a:solidFill>
                <a:latin typeface="Helvetica Neue"/>
                <a:ea typeface="Helvetica Neue"/>
                <a:cs typeface="Helvetica Neue"/>
              </a:rPr>
              <a:t>• model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7B0DA-7F37-44AD-B64F-C67A949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D6866"/>
                </a:solidFill>
                <a:latin typeface="Helvetica Neue"/>
                <a:ea typeface="Helvetica Neue"/>
                <a:cs typeface="Helvetica Neue"/>
              </a:rPr>
              <a:t>Ready for a repository post</a:t>
            </a:r>
          </a:p>
        </p:txBody>
      </p:sp>
    </p:spTree>
    <p:extLst>
      <p:ext uri="{BB962C8B-B14F-4D97-AF65-F5344CB8AC3E}">
        <p14:creationId xmlns:p14="http://schemas.microsoft.com/office/powerpoint/2010/main" val="1764017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2026-07-12T08:46:07.1400000Z</dcterms:created>
  <dcterms:modified xsi:type="dcterms:W3CDTF">2026-07-12T08:46:07.1400000Z</dcterms:modified>
</coreProperties>
</file>